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c3031c6c7a4354" /><Relationship Type="http://schemas.openxmlformats.org/officeDocument/2006/relationships/extended-properties" Target="/docProps/app.xml" Id="R882442bda2924721" /><Relationship Type="http://schemas.openxmlformats.org/officeDocument/2006/relationships/officeDocument" Target="/ppt/presentation.xml" Id="R277fd92b03f843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90041177074e36"/>
  </p:sldMasterIdLst>
  <p:notesMasterIdLst>
    <p:notesMasterId xmlns:r="http://schemas.openxmlformats.org/officeDocument/2006/relationships" r:id="Rdfde71b491514b24"/>
  </p:notesMasterIdLst>
  <p:sldIdLst>
    <p:sldId xmlns:r="http://schemas.openxmlformats.org/officeDocument/2006/relationships" id="256" r:id="R460552b6351c4427"/>
    <p:sldId xmlns:r="http://schemas.openxmlformats.org/officeDocument/2006/relationships" id="257" r:id="R0d1a5d2677724e96"/>
    <p:sldId xmlns:r="http://schemas.openxmlformats.org/officeDocument/2006/relationships" id="258" r:id="Rfed75943664044d2"/>
    <p:sldId xmlns:r="http://schemas.openxmlformats.org/officeDocument/2006/relationships" id="259" r:id="R7eeb18bf5afd4de8"/>
    <p:sldId xmlns:r="http://schemas.openxmlformats.org/officeDocument/2006/relationships" id="260" r:id="R01867d17bebe4a6d"/>
    <p:sldId xmlns:r="http://schemas.openxmlformats.org/officeDocument/2006/relationships" id="261" r:id="Rc6cf3d4e42134e6e"/>
    <p:sldId xmlns:r="http://schemas.openxmlformats.org/officeDocument/2006/relationships" id="262" r:id="R00b27dbfd3944f73"/>
    <p:sldId xmlns:r="http://schemas.openxmlformats.org/officeDocument/2006/relationships" id="263" r:id="Rd09531c8cfa841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04998adec64ba7" /><Relationship Type="http://schemas.openxmlformats.org/officeDocument/2006/relationships/slideMaster" Target="/ppt/slideMasters/slideMaster1.xml" Id="R1390041177074e36" /><Relationship Type="http://schemas.openxmlformats.org/officeDocument/2006/relationships/notesMaster" Target="/ppt/notesMasters/notesMaster1.xml" Id="Rdfde71b491514b24" /><Relationship Type="http://schemas.openxmlformats.org/officeDocument/2006/relationships/presProps" Target="/ppt/presProps.xml" Id="Ra406e8536a5842d3" /><Relationship Type="http://schemas.openxmlformats.org/officeDocument/2006/relationships/tableStyles" Target="/ppt/tableStyles.xml" Id="Rd20984c4f5be4ac0" /><Relationship Type="http://schemas.openxmlformats.org/officeDocument/2006/relationships/slide" Target="/ppt/slides/slide1.xml" Id="R460552b6351c4427" /><Relationship Type="http://schemas.openxmlformats.org/officeDocument/2006/relationships/slide" Target="/ppt/slides/slide2.xml" Id="R0d1a5d2677724e96" /><Relationship Type="http://schemas.openxmlformats.org/officeDocument/2006/relationships/slide" Target="/ppt/slides/slide3.xml" Id="Rfed75943664044d2" /><Relationship Type="http://schemas.openxmlformats.org/officeDocument/2006/relationships/slide" Target="/ppt/slides/slide4.xml" Id="R7eeb18bf5afd4de8" /><Relationship Type="http://schemas.openxmlformats.org/officeDocument/2006/relationships/slide" Target="/ppt/slides/slide5.xml" Id="R01867d17bebe4a6d" /><Relationship Type="http://schemas.openxmlformats.org/officeDocument/2006/relationships/slide" Target="/ppt/slides/slide6.xml" Id="Rc6cf3d4e42134e6e" /><Relationship Type="http://schemas.openxmlformats.org/officeDocument/2006/relationships/slide" Target="/ppt/slides/slide7.xml" Id="R00b27dbfd3944f73" /><Relationship Type="http://schemas.openxmlformats.org/officeDocument/2006/relationships/slide" Target="/ppt/slides/slide8.xml" Id="Rd09531c8cfa841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58bd4973c14f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0f6b8535504c00" /><Relationship Type="http://schemas.openxmlformats.org/officeDocument/2006/relationships/notesMaster" Target="/ppt/notesMasters/notesMaster1.xml" Id="R5e36e37dc5ef46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ee2e74ed684e9a" /><Relationship Type="http://schemas.openxmlformats.org/officeDocument/2006/relationships/notesMaster" Target="/ppt/notesMasters/notesMaster1.xml" Id="R381e647ee85342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e1c03d63124ca3" /><Relationship Type="http://schemas.openxmlformats.org/officeDocument/2006/relationships/notesMaster" Target="/ppt/notesMasters/notesMaster1.xml" Id="R02cdfd18cd2d4d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236e01c72d4dbe" /><Relationship Type="http://schemas.openxmlformats.org/officeDocument/2006/relationships/notesMaster" Target="/ppt/notesMasters/notesMaster1.xml" Id="Rfaa7962eaf6b49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43ef0f9df84609" /><Relationship Type="http://schemas.openxmlformats.org/officeDocument/2006/relationships/notesMaster" Target="/ppt/notesMasters/notesMaster1.xml" Id="R309ae7849a8044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8a215846d604146" /><Relationship Type="http://schemas.openxmlformats.org/officeDocument/2006/relationships/notesMaster" Target="/ppt/notesMasters/notesMaster1.xml" Id="Reaf4994e2b7c44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f034e4c97b46c8" /><Relationship Type="http://schemas.openxmlformats.org/officeDocument/2006/relationships/notesMaster" Target="/ppt/notesMasters/notesMaster1.xml" Id="R948533710aa844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4e8c887c93c4f7e" /><Relationship Type="http://schemas.openxmlformats.org/officeDocument/2006/relationships/notesMaster" Target="/ppt/notesMasters/notesMaster1.xml" Id="R4dfec1a905d54f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35–40 секунд. Представиться и назвать команду. Коротко: мы собрали работающий MVP, который из пользовательских ограничений формирует меню, считает корзину и проверяет результат.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около 55 секунд. Фильтры умеют найти подходящие рецепты, но не составляют связный план и не используют содержательный feedback. Поэтому LLM выбирает и пересматривает меню. Стоимость, единицы, бюджет и итоговая валидность остаются в Python. Это ключевой ответ на вопрос «зачем здесь LLM».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Максим, около 65 секунд. Данные подготовлены заранее: 150 рецептов, 503 нормализованных ингредиента и 503 демонстрационные цены. Поиск применяет жёсткие ограничения по диете и времени и передаёт планировщику только допустимые ID. Сразу назвать ограничение: CU — условные единицы, а часть исходных количеств обозначена как pcs. Источник данных: https://www.kaggle.com/datasets/shuyangli94/food-com-recipes-and-user-interactions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Рита, около 65 секунд. Планировщик получает только ID кандидатов и возвращает строгий JSON. Pydantic проверяет схему и отклоняет неизвестные рецепты. При плохом JSON есть одна повторная попытка, при недоступном API — безопасный fallback из кандидатов. Важно: planner не считает стоимость и не определяет valid.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Александра, около 70 секунд. Calculator масштабирует ингредиенты на число людей, суммирует их, вычитает pantry и применяет цену. Validator проверяет бюджет, диету, неизвестные цены и единицы. Critic получает уже вычисленные нарушения и объясняет, как исправить выбор. Он не может изменить total_cost, корзину или valid. Неизвестная цена не маскируется нулём: total_cost становится null.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около 65 секунд. Пройти слева направо: запрос, поиск, planner, Python validator, интерфейс. Если есть нарушения, critic формирует feedback и planner делает одну повторную попытку. LangGraph для такого короткого цикла не даёт практической пользы. Он станет уместен при нескольких ветвях, долгих процессах или сохранении состояния между сессиями.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Демо, около 3 минут. Анастасия задаёт параметры и запускает. Максим кратко показывает каталог и найденных кандидатов. Рита показывает 6 выбранных блюд и поясняет planner. Александра показывает корзину, стоимость и Python-проверку. Затем поставить бюджет 0 CU, снова запустить и раскрыть историю попыток: violation over_budget, реальный ответ critic и feedback для второй попытки. Не показывать .env, AI Studio и API-ключ.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Спикер: Анастасия, 45–50 секунд. MVP проверен 91 тестом, Docker healthcheck проходит, live Gemini проверен, репозиторий публичный. Ограничения данных названы открыто. К final defense подключим реальные цены, формальную оценку качества меню и деплой с наблюдаемостью. Источники: https://github.com/asastyy/smart-grocery-agents и https://github.com/AlgazinovAleksandr/LLM-Agents-Course/blob/main/GROUP_PROJECT.md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a605cc4b52419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b7f8d6dfd44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fa0529ec394e7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0912e117fd47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73a216e2f4a7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12a0fe1e8d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D0161F-200C-4AE1-BAC8-3703C5B4AE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DE7BD8D-805B-408A-BF87-CA7E4CD88D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D86529-160F-4259-A314-E450924D5B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A9C4D1-983F-46EB-9BD3-81CAD36638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8DFC3E8-CF35-4E47-A108-A31264B43C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B4C4E64-D9E7-4CFB-A394-E57B6C0A84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278160-954F-4358-BDC7-2F9E5DB4BF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5B856BF-C02D-4DF2-A62A-17B484F156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3B928E1-FCFB-4063-BD8F-1DE2722BB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BAFF14-C488-4F9A-B0D0-FE70C1536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24166ba5c44e0d" /><Relationship Type="http://schemas.openxmlformats.org/officeDocument/2006/relationships/slideLayout" Target="/ppt/slideLayouts/slideLayout1.xml" Id="R915b2d94d6a642a8" /><Relationship Type="http://schemas.openxmlformats.org/officeDocument/2006/relationships/slideLayout" Target="/ppt/slideLayouts/slideLayout2.xml" Id="R7eec097a5a4248c1" /><Relationship Type="http://schemas.openxmlformats.org/officeDocument/2006/relationships/slideLayout" Target="/ppt/slideLayouts/slideLayout3.xml" Id="Rcddd5a17ea4846e4" /><Relationship Type="http://schemas.openxmlformats.org/officeDocument/2006/relationships/slideLayout" Target="/ppt/slideLayouts/slideLayout4.xml" Id="Rb98b80e4c4e143bb" /><Relationship Type="http://schemas.openxmlformats.org/officeDocument/2006/relationships/slideLayout" Target="/ppt/slideLayouts/slideLayout5.xml" Id="R66ec7d690b464a26" /><Relationship Type="http://schemas.openxmlformats.org/officeDocument/2006/relationships/slideLayout" Target="/ppt/slideLayouts/slideLayout6.xml" Id="R2c6d2f650b104f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5b2d94d6a642a8"/>
    <p:sldLayoutId xmlns:r="http://schemas.openxmlformats.org/officeDocument/2006/relationships" id="2147483650" r:id="R7eec097a5a4248c1"/>
    <p:sldLayoutId xmlns:r="http://schemas.openxmlformats.org/officeDocument/2006/relationships" id="2147483651" r:id="Rcddd5a17ea4846e4"/>
    <p:sldLayoutId xmlns:r="http://schemas.openxmlformats.org/officeDocument/2006/relationships" id="2147483652" r:id="Rb98b80e4c4e143bb"/>
    <p:sldLayoutId xmlns:r="http://schemas.openxmlformats.org/officeDocument/2006/relationships" id="2147483653" r:id="R66ec7d690b464a26"/>
    <p:sldLayoutId xmlns:r="http://schemas.openxmlformats.org/officeDocument/2006/relationships" id="2147483654" r:id="R2c6d2f650b104f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df9bcb3a247c6" /><Relationship Type="http://schemas.openxmlformats.org/officeDocument/2006/relationships/image" Target="/ppt/media/image.jpeg" Id="R2808d3f4e9574eb9" /><Relationship Type="http://schemas.openxmlformats.org/officeDocument/2006/relationships/notesSlide" Target="/ppt/notesSlides/notesSlide1.xml" Id="Rb02c1092b99b4c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7b8ae53c214977" /><Relationship Type="http://schemas.openxmlformats.org/officeDocument/2006/relationships/notesSlide" Target="/ppt/notesSlides/notesSlide2.xml" Id="R17155d97fb474e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d0d7b752274ee6" /><Relationship Type="http://schemas.openxmlformats.org/officeDocument/2006/relationships/notesSlide" Target="/ppt/notesSlides/notesSlide3.xml" Id="R8ee0420d3f844d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c30bb837e84a19" /><Relationship Type="http://schemas.openxmlformats.org/officeDocument/2006/relationships/notesSlide" Target="/ppt/notesSlides/notesSlide4.xml" Id="Ra25f3371ee804c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549b78b82a41a1" /><Relationship Type="http://schemas.openxmlformats.org/officeDocument/2006/relationships/notesSlide" Target="/ppt/notesSlides/notesSlide5.xml" Id="R47066195490042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e654c2e0c346ad" /><Relationship Type="http://schemas.openxmlformats.org/officeDocument/2006/relationships/notesSlide" Target="/ppt/notesSlides/notesSlide6.xml" Id="Rd28e914eefc946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e08a1a90f24457" /><Relationship Type="http://schemas.openxmlformats.org/officeDocument/2006/relationships/image" Target="/ppt/media/image2.jpeg" Id="Ra8677164b4ef4c1b" /><Relationship Type="http://schemas.openxmlformats.org/officeDocument/2006/relationships/notesSlide" Target="/ppt/notesSlides/notesSlide7.xml" Id="R4f73d786c41d45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afae5de70b46dd" /><Relationship Type="http://schemas.openxmlformats.org/officeDocument/2006/relationships/notesSlide" Target="/ppt/notesSlides/notesSlide8.xml" Id="R0cc3aab602bf40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73863-DC54-4FC3-A38F-285D079F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F8C79-A4D4-46E0-A7B3-62274801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"/>
            <a:ext cx="2400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FCD5B-6128-4525-BAA3-90084711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075"/>
            <a:ext cx="21717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ЗАЩИТА ПРОЕКТА · MVP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8268B-C236-4AC5-8C1B-4B40074C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572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0000"/>
              </a:lnSpc>
              <a:buNone/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Smart Grocery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Agents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ACDC8-40BC-4CE4-8B2E-0B792EC7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90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Меню и корзина по запасам, бюджету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и ограничениям питания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25384D-3326-4508-9488-B40107AA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Команда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D7BA4-3D34-4BE9-884A-83F205EC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609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Сергеева Анастасия Вадимовна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Федорова Александра Вадимовна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Уразметова Маргарита Руслановна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Афонин Максим Константинович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278A2-AE49-4224-8F40-AA6ED8AF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00050"/>
            <a:ext cx="3124200" cy="60579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6979D4-A9E1-4E84-8AAA-158DFD3305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08d3f4e9574eb9"/>
          <a:srcRect xmlns:a="http://schemas.openxmlformats.org/drawingml/2006/main" l="0" t="2000" r="0" b="2000"/>
          <a:stretch xmlns:a="http://schemas.openxmlformats.org/drawingml/2006/main"/>
        </p:blipFill>
        <p:spPr>
          <a:xfrm xmlns:a="http://schemas.openxmlformats.org/drawingml/2006/main">
            <a:off x="8096250" y="552450"/>
            <a:ext cx="2857500" cy="57531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</p:spTree>
    <p:extLst>
      <p:ext uri="{BB962C8B-B14F-4D97-AF65-F5344CB8AC3E}">
        <p14:creationId xmlns:p14="http://schemas.microsoft.com/office/powerpoint/2010/main" val="118121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C38AA2-C471-4E52-B6A8-CD4F10D0BB31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6191250" y="3657600"/>
            <a:ext cx="1333500" cy="8382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A54567-AC38-448B-90EA-01C885B1F02B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191250" y="2952750"/>
            <a:ext cx="1333500" cy="704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CBD5E1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0E3823-8011-411D-89E6-B01DBDA9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1 · ПРОБЛЕМА И ПОЛЬЗОВАТЕЛЬ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39FB8-4D4C-472C-9B3D-19958489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Один запрос — пять ограничений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0E9AB-7923-4588-B080-53B209E3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Человеку трудно вручную совместить их в связное меню на несколько дней.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EF9567-7A75-4045-AF22-683197E5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5FF94-4808-4F06-A8D5-1B31D068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Запасы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F22DB2-1D88-4116-BBEF-63E0BF2C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что уже есть дома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A7A30-60A2-450A-9D39-21FCB735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2C0AB-6AD6-4AFA-A83E-C886821E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Бюджет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D6AE8-071E-4287-9648-D98D5E78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765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сколько можно потратить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0B1E1-E4FF-43C9-ADDA-AB969896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4F5576-DD32-4484-A795-136D4224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Диета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74D9F-65F0-4C09-ACF4-FAE06ACB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195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что допустимо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6BD70-E82D-48CD-B6A1-F8B678DE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B42C1-38B5-4811-9249-BDE83119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672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Время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B2752-FBE4-4B9B-90B4-FDAFCA42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624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сколько готовить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366B94-3621-429A-8284-CFB0036C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26E60B-5210-44CC-960E-380F63BA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Люди и дни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DE946-8F1B-4AC8-AE54-E636B032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054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сколько порций нужно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E1182F-0883-40CC-945E-E9B6F9FC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381250"/>
            <a:ext cx="195262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F888B-B1D2-45AA-A814-8945F4D6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514600"/>
            <a:ext cx="1685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Поиск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6315EC-E389-4D1D-A821-27ACA7E1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838450"/>
            <a:ext cx="17240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отсекает неподходящее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C70669-769E-444F-86D7-DD165C16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924300"/>
            <a:ext cx="195262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973FC0-44C5-493B-83EC-59455D7B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057650"/>
            <a:ext cx="1685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DD4E91-FF9A-4C8F-A544-CD391EB1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381500"/>
            <a:ext cx="17240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собирает и пересматривает меню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D886D3-1726-4BAE-8A13-A364B75A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0350"/>
            <a:ext cx="3238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035769-E036-4042-B89B-63432102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337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Меню + корзина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83B4AA-5189-4ABC-A1FD-33F89FD2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57550"/>
            <a:ext cx="3009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приёмов пищи, стоимость, проверка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5B3581-F099-4DF2-A4D2-CE4FF850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72050"/>
            <a:ext cx="19526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5442CD-0F02-4EC7-85B0-64E3C342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19675"/>
            <a:ext cx="17240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Python считает факты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984D5E-5989-44C7-A842-DE1BE8A6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972050"/>
            <a:ext cx="20669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4F5F84-D1A5-4D3B-A2AC-7BBA56AE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019675"/>
            <a:ext cx="18383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Модель составляет меню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4EFC64-3898-438C-84E5-04B9A5A1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Анастасия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E97283-E387-4B49-8B94-5F13BF8B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44493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3E2732-567C-4770-9913-B8FA6BD0E8D5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496300" y="4419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E5F4A4-7ABC-4709-839F-112715BAA4D8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695950" y="4419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ADD5FC-627E-4046-8969-F29C00C4DB4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895600" y="441960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AF72F3-4937-439C-817A-6D6101CE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2 · ДАННЫЕ И ПОИСК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8794D-68EA-4EE8-A2B8-A3D9316C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Сначала сужаем пространство выбора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51BF6C-73FC-4295-8B7D-523A823B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Модель получает только проверенный набор кандидатов, а не весь каталог.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DF1F7-7C00-4A1A-B035-8A518E79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150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E5CAD-7C0F-480E-9F4A-DA14446B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рецептов Food.com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F2EC5-D8C3-48F7-981B-49B8BA0A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3835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503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2C2532-AA3A-4CB0-B6A8-41AC6FD7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ингредиента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94821-B92A-402B-9439-1798C143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38350"/>
            <a:ext cx="2095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9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503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4F560-CBDA-4D57-AD00-7A3D8B62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демо-цены в CU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C3C103-60AF-4F98-9EA9-53A09226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F214E-37AE-4E48-9BE9-76C87482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Нормализация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9B443-AA3F-4E18-BB47-D7EE1BC5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единые названия и единицы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08A3C0-D7D4-45D2-BFF1-28D0A25B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1F72E1-BBED-41B9-9F1E-10910D64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Фильтры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43161-F69C-4AE6-A903-EDBEE4A2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диета и время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42661-F734-41B6-A11E-AF89E75A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D6C7E8-6C1A-472F-ABC4-6AB88486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Кандидаты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D4041E-8675-4B60-9502-B1478D80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 и данные рецепта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20F111-85D9-4AEB-AD2C-E85C80D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86200"/>
            <a:ext cx="21336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22A159-1C2D-4F86-94D0-02E818D2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19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Планировщик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46DBF9-0579-43D6-9C9C-8DD9E42B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4340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выбирает только 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0C1F4B-4BD5-41C7-A83D-928654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Ограничение MVP: цены синтетические, часть количества хранится в штуках.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0A504B-AAA7-40B2-9A0D-C796F151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Максим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7FFF05-9358-43C5-9F1E-38E49B8D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998145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40E921-63DF-4CCE-A332-2AACB67364D9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820150" y="27527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FE7DD"/>
            </a:solidFill>
            <a:prstDash val="solid"/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AAE9A-3292-4D4D-9D14-DCA69154E20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905500" y="27527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5920B-44F5-4C5B-8234-70BA3008A39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819400" y="275272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637341-713D-46CA-9BF4-D4308AACB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3 · ПЛАНИРОВЩИК МЕНЮ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A8DEC1-DEA2-4773-9A60-EE518E64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Модель выбирает, но не считает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345704-3032-47DB-A4AD-95BF424C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Строгий контракт ограничивает модель списком допустимых рецептов.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C1B75-6C3A-49D5-858C-9489989D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209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8251D-04B8-4960-A6F4-8A8E417E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ID кандидатов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54404-FD0C-4AEB-8C09-FD03A1C4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 и название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B6439-36AB-48EE-8B54-5C753E95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66950"/>
            <a:ext cx="22669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56BA3-7812-43D3-B460-45AC9C21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00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E7E27-1A3D-40C5-8BCE-D2FF3AA2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72415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структурированный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036C0-08BB-4AB9-9CE3-918FF597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66950"/>
            <a:ext cx="2095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1B795E-D40A-49A3-89BA-4D7261B1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 схемы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70832-AA7D-4173-B30A-8C1DE6C2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724150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Pydantic и допустимые 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B5469-00E0-4EEB-BCA9-2C82A74D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66950"/>
            <a:ext cx="1828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37FC12-702D-4876-9634-B9698532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4003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Меню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79E8B-6756-48C5-A1FD-C8B2496F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24150"/>
            <a:ext cx="1600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блюда × день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5B5502-30FC-4F8E-8F98-67F6DEE9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528637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7F7F5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79DE2C-7C25-4DF8-9DDF-39E010C2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{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 "days": [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   {"day": 1, "lunch_id": 42, "dinner_id": 87}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 ]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ADE043-A8A1-414D-AA60-974033CB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Три защиты от ошибок модели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6450F0-3AF3-4A38-A166-A0300A7E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910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9F078-A6E4-4A66-A720-3D81D381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05300"/>
            <a:ext cx="405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неизвестные ID отклоняются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47CBA-EED6-4E3F-9EE2-883CC060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863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43E448-2140-4C4C-B68A-1DD1DD66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800600"/>
            <a:ext cx="4248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некорректный JSON запрашивается повторно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60F6EC-BC56-40C9-A613-F2C8486F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76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B2C8FC-398E-48BC-A296-00546C0F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391150"/>
            <a:ext cx="4438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при сбое выбираем только из кандидатов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E68CF6-FB4F-45B0-9753-FA90501D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Рита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BC4821-2760-4BC2-89AE-390D379C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46323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395A4-7F50-4254-8389-10EFB0B403B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9144000" y="276225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3E7D2"/>
            </a:solidFill>
            <a:prstDash val="solid"/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FF509-E20D-4F88-B71B-E25E06E595D2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76950" y="276225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DCEB37-A4F4-445A-8C5B-8AE8D97F8CE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009900" y="2762250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39A87F-62CC-4503-84CA-C37F84AA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4 · КОРЗИНА И ПРОВЕРКА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EC1C8-8418-471F-9CBD-8C39F235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Факты проверяет Python, рекомендации даёт Gemini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E4B2A-AB32-4DFB-BAA3-363943A7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Модель получает найденные нарушения и предлагает, как пересобрать меню.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82F24-B05C-49E6-8051-A3CF2BC1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22479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61C86-D288-49A3-9981-39697F63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Расчёт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8CC2C-D27C-4E50-9001-2B2EF005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порции, запасы и цены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D686F-A10E-44A8-8CA1-5E6BC931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66950"/>
            <a:ext cx="22479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1CFD6-91CC-4503-8776-C086D81E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4003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72C391-88F0-4BC5-9AF6-3D945F80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2415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бюджет, диета, единицы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FE8F9-EB2D-4A0F-95A6-6A59DC6F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22479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1EBEFF-80FD-4582-8033-86C7E15F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00300"/>
            <a:ext cx="198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Рекомендация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8A1D91-A463-4503-95B7-A79C1DC6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201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Gemini не меняет факты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CA875-3083-49A7-A294-5B5D4E77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266950"/>
            <a:ext cx="1504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DA6E7-5C88-41E0-95FF-8D8904A9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4003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Повтор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C6F260-6259-4CC9-9D54-C88ECF2E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24150"/>
            <a:ext cx="1276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ещё 1 попытка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DE0952-4912-4725-AD92-4D7EE2FD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Источник истины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52BAB5-B523-4666-808A-84B0C77B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BEB5F4-C09B-4426-BFA2-E3D20814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405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стоимость и оценённая часть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5A528-2B93-4B3A-B88F-0718D457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CDE7B-3361-421C-9322-4C73767B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405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итог и список нарушений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A1F89E-CC7A-4E90-8758-43BC5CD4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62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A46E30-EE7E-440C-8510-D2105682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76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неизвестная цена не заменяется нулём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B09889-D3E6-4F8C-AABE-76850E3C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49530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EAB9A4-3DE9-4191-8AD2-62FDE440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71950"/>
            <a:ext cx="4305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Нарушение: бюджет превышен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Python: стоимость 31 CU при бюджете 25 CU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Gemini: выбери более дешёвые рецепты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Итог: планировщик получает рекомендацию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FC8104-2033-4885-A8FD-8D672A52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Александра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958802-5C77-4DFC-BE1E-F46DA7C2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55414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C708E4-F01F-4BCE-92B8-E26175E9FE3C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10" idx="2"/>
          </p:cNvCxnSpPr>
          <p:nvPr/>
        </p:nvCxnSpPr>
        <p:spPr>
          <a:xfrm xmlns:a="http://schemas.openxmlformats.org/drawingml/2006/main" flipH="1" flipV="1">
            <a:off x="4886325" y="3314700"/>
            <a:ext cx="2924175" cy="1390650"/>
          </a:xfrm>
          <a:prstGeom xmlns:a="http://schemas.openxmlformats.org/drawingml/2006/main" prst="bentConnector4">
            <a:avLst>
              <a:gd name="adj1" fmla="val 77524"/>
              <a:gd name="adj2" fmla="val 83562"/>
            </a:avLst>
          </a:prstGeom>
          <a:ln xmlns:a="http://schemas.openxmlformats.org/drawingml/2006/main" w="28575">
            <a:solidFill>
              <a:srgbClr val="F3E7D2"/>
            </a:solidFill>
            <a:prstDash val="solid"/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BC1C91-26B6-4759-9C1D-CF0C1AC692E6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810375" y="3314700"/>
            <a:ext cx="1809750" cy="9334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8575">
            <a:solidFill>
              <a:srgbClr val="F3E7D2"/>
            </a:solidFill>
            <a:prstDash val="solid"/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D4A19-CA44-4A7F-8043-0809FC00075F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620000" y="2857500"/>
            <a:ext cx="2095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FE7DD"/>
            </a:solidFill>
            <a:prstDash val="solid"/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0875C5-8F2A-46E0-A485-48120BA90DD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00700" y="2857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34B723-7BD5-4BC0-8833-3D3D3502D4E0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771900" y="2857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DEFE8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7EAAF-BAB8-4ECB-BA3A-C4967CCD338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1943100" y="2857500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6F5B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CC149A-3B00-44AD-848E-68D82675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5 · 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D45AC0-DC88-43E4-954A-BD69A72F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Короткий управляемый цикл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E963A-B2C2-47EE-8EC3-8B782AFF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Две роли Gemini, один детерминированный контроль и максимум две попытки.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9A34F8-4750-4F30-8024-3ACC0169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3628F-A56D-45BA-A9D6-3083E638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336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Запрос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7C4C3-81B5-4751-9BD7-AC91030A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бюджет · диета · время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9DF0E4-7A00-4659-8F80-4ECBF88B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00300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B62B4-2D02-4ECF-9187-13BAEAEB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336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2CAF9-6418-4059-B9CF-3FF9871F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5750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жёсткие фильтры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6C041-5489-4041-BE59-050638CF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0300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8EA42-2B03-44D0-A508-86CE385E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33650"/>
            <a:ext cx="1162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977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Планировщик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6D44F-A6CF-48CC-BF61-46FE4DDB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5750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B2E9D-DB21-4493-BCA3-987F8D8E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00300"/>
            <a:ext cx="1619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0DE6FA-DB16-4D90-B456-7C3BE341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336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EB7106-3A6F-4FE9-81EA-A9D15016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8575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Python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11E5F-2E92-4778-A3CB-CE25BF2C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00300"/>
            <a:ext cx="1619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157BC-E489-469D-A1BC-25C5ED40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3365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Интерфейс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BF207B-E611-415B-8CFC-36F7EF8A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5750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Streamlit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EC0AA-EB08-470F-936B-6DC85B2C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48150"/>
            <a:ext cx="1619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BDAD7F-4CFC-4DE7-BEA5-800804AE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81500"/>
            <a:ext cx="135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622"/>
          </a:bodyPr>
          <a:lstStyle xmlns:a="http://schemas.openxmlformats.org/drawingml/2006/main">
            <a:def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Рекомендация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48F709-F338-4771-9DB3-CEF85292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05350"/>
            <a:ext cx="139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ct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B75B92-8403-4945-A790-F859BFCC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90750"/>
            <a:ext cx="742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D53784-FE2B-4BF3-9BF8-533A9E34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38375"/>
            <a:ext cx="514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готово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8650CC-438E-424C-BECA-E7C5855A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0045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DCDA14-BEA5-415B-BFB5-029F3BEA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48075"/>
            <a:ext cx="1123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есть нарушения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7AFCB9-DE9E-4CA9-9C0E-6D688D2C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Почему без LangGraph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69B955-B250-4AC0-9EC8-50D6A2E9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6096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Один условный переход, две попытки, состояние живёт внутри одного запроса. Обычный Python-код короче и легче тестируется.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869D86-EE01-4CB3-857B-8F2F385D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Спикер · Анастасия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93A05F-62AE-4296-B286-DF3B7E4F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757299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5C8358-08D0-43C0-88A0-AECA2192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6 · ЖИВАЯ ДЕМОНСТРАЦИЯ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49F297-7F9D-49B1-B3D0-7DB455CB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Показываем нормальный и граничный сценарий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06D66-EF75-4EC0-99AE-EF93CE15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Вверху интерфейса указан режим Gemini 3.5 Flash Lite.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005B8-2785-44B1-977D-211F83A7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524250" cy="4171950"/>
          </a:xfrm>
          <a:prstGeom xmlns:a="http://schemas.openxmlformats.org/drawingml/2006/main" prst="roundRect">
            <a:avLst>
              <a:gd name="adj" fmla="val 43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BD340B-8AFF-4A9D-8BE6-67899BDF66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77164b4ef4c1b"/>
          <a:srcRect xmlns:a="http://schemas.openxmlformats.org/drawingml/2006/main" l="0" t="0" r="0" b="12000"/>
          <a:stretch xmlns:a="http://schemas.openxmlformats.org/drawingml/2006/main"/>
        </p:blipFill>
        <p:spPr>
          <a:xfrm xmlns:a="http://schemas.openxmlformats.org/drawingml/2006/main">
            <a:off x="819150" y="2057400"/>
            <a:ext cx="3257550" cy="3905250"/>
          </a:xfrm>
          <a:prstGeom xmlns:a="http://schemas.openxmlformats.org/drawingml/2006/main" prst="roundRect">
            <a:avLst>
              <a:gd name="adj" fmla="val 3509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711FF-9E0B-48B2-A9E7-8540184A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381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5B8F5-2F3C-46D1-8AE6-6E5136F7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0275"/>
            <a:ext cx="2152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68"/>
          </a:bodyPr>
          <a:lstStyle xmlns:a="http://schemas.openxmlformats.org/drawingml/2006/main">
            <a:def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ctr"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GEMINI · В РЕАЛЬНОМ ВРЕМЕНИ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6A1D8-BB81-4766-BAF6-8A2A3E6A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52650"/>
            <a:ext cx="70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62704-6FAE-4E0B-9647-F5E33B13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907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Бюджет 25 CU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4B4ED4-2F5E-4804-B88F-86D3071C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717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дня · 2 человека · до 30 минут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8C3E6-D4AF-4852-AD44-5144CD7F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38500"/>
            <a:ext cx="70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6762F-BE4D-4B2D-A283-326C5C27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766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Показать результат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89B47-B305-4671-A00A-98AB6080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576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блюд · корзина · стоимость · проверка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8B8FAB-2DC1-486C-B9A5-99C9CC00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324350"/>
            <a:ext cx="704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15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81BE74-D98D-4465-91F9-55E51AA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624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Поставить бюджет 0 CU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ECD3B2-205A-4853-A975-012D4078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7434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превышение бюджета → рекомендация → попытка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721CC6-59B4-4932-A3BD-C0D08022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429250"/>
            <a:ext cx="6096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1F3F2"/>
          </a:solidFill>
          <a:ln xmlns:a="http://schemas.openxmlformats.org/drawingml/2006/main" w="9525">
            <a:solidFill>
              <a:srgbClr val="D9DD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D1F06B-783D-4209-AC53-FCEDA14D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581650"/>
            <a:ext cx="569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Отказ при бюджете 0 — честный результат, а не сбой.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4B1FC3-68EF-4065-97AD-E6C4B434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Демо · все участники по своей части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89E153-0349-4656-B3B9-BCD58C0F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348317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8F1AF3-F437-46FC-B42F-F506BE50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7 · ГОТОВНОСТЬ MVP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8E08A7-22FB-4217-AF5A-F51D0971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Стабильная база для итоговой защиты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9C2AB-8D87-446B-AFFC-92136E0E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Проект воспроизводится локально и честно показывает границы текущих данных.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BB39C-BBCA-4F62-87DE-96BC84A0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238"/>
          </a:bodyPr>
          <a:lstStyle xmlns:a="http://schemas.openxmlformats.org/drawingml/2006/main">
            <a:def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45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71CC9-EC03-400D-A03C-9DAA4800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тест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C0AF9-AB99-4062-846C-AEDCC46A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336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Docker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D82137-6E26-4B7F-9897-9EE3FC29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813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готов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8DEB6-BFD3-48BB-B86E-87305A0B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6C6AC-9551-4B60-90D6-428BBB40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813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проверен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28DD5-6B3C-4E1B-9C08-852B9672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3360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19"/>
          </a:bodyPr>
          <a:lstStyle xmlns:a="http://schemas.openxmlformats.org/drawingml/2006/main">
            <a:def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00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Открытый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46DA0-4959-4452-AEA0-53148F7D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репозиторий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00690-8DB4-4C74-84CB-17208B96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Ограничения сейчас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0DC82-E331-44A0-93CA-37D1F8F8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3D8F2-DC6E-4562-BD01-14C9959A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синтетические цены в CU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3904B-CC34-4706-8CCC-3CA75FFC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83772-6ADE-4850-AEA8-899563E8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7625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часть единиц — штуки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899DD2-AF43-4225-B2E0-00F2D9FD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62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57D50-24F6-43AE-B0E7-68B2EB0D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76850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нет инструкций приготовления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7A6B12-6BD8-4E21-90C3-11D97329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14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1F6F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6F5B"/>
                </a:solidFill>
                <a:latin typeface="Arial"/>
                <a:ea typeface="Arial"/>
                <a:cs typeface="Arial"/>
              </a:rPr>
              <a:t>Следующий этап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6C8BF-C728-4F0B-9702-4D0CDAF3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38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85EC39-DBBF-42CD-B833-2B14C21A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реальные магазинные цены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C8C75C-F87E-4B89-992A-4FD62A1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8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B39041-17FF-4CFC-870F-7682D16C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оценка качества меню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E29B50-6C8A-4A2C-AB47-E605163E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25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6F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E76231-53BD-4C3C-8378-0FDECF70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7685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публикация и контроль ошибок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4E2C38-62B5-4478-96EA-290EFB99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Финал · Анастасия, затем вопросы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3A6034-42AD-48F2-8278-7AFDFF77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211732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2026-10-23T09:48:47.8290000Z</dcterms:created>
  <dcterms:modified xsi:type="dcterms:W3CDTF">2026-10-23T09:48:47.8290000Z</dcterms:modified>
</coreProperties>
</file>